
<file path=[Content_Types].xml><?xml version="1.0" encoding="utf-8"?>
<Types xmlns="http://schemas.openxmlformats.org/package/2006/content-types">
  <Default Extension="xlsx" ContentType="application/vnd.openxmlformats-officedocument.spreadsheetml.sheet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presProps" Target="presProps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1" Type="http://schemas.openxmlformats.org/officeDocument/2006/relationships/tableStyles" Target="tableStyles.xml"/><Relationship Id="rId10" Type="http://schemas.openxmlformats.org/officeDocument/2006/relationships/viewProps" Target="viewProps.xml"/><Relationship Id="rId1" Type="http://schemas.openxmlformats.org/officeDocument/2006/relationships/slideMaster" Target="slideMasters/slideMaster1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Workbook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lang val="zh-CN"/>
  <c:roundedCorners val="1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0" vertOverflow="ellipsis" vert="horz" wrap="square" anchor="ctr" anchorCtr="1"/>
          <a:lstStyle/>
          <a:p>
            <a:pPr>
              <a:defRPr lang="en-US" sz="1300" b="0" i="0" u="none" strike="noStrike" kern="1200" baseline="0">
                <a:solidFill>
                  <a:srgbClr val="1B1F3B"/>
                </a:solidFill>
                <a:latin typeface="Calibri" panose="020F0502020204030204"/>
                <a:ea typeface="+mn-ea"/>
                <a:cs typeface="+mn-cs"/>
              </a:defRPr>
            </a:pPr>
            <a:r>
              <a:rPr sz="1300" b="0" i="0" u="none" strike="noStrike">
                <a:solidFill>
                  <a:srgbClr val="1B1F3B"/>
                </a:solidFill>
                <a:latin typeface="Calibri" panose="020F0502020204030204"/>
              </a:rPr>
              <a:t>Accuracy by Matching Approach</a:t>
            </a:r>
            <a:endParaRPr sz="1300" b="0" i="0" u="none" strike="noStrike">
              <a:solidFill>
                <a:srgbClr val="1B1F3B"/>
              </a:solidFill>
              <a:latin typeface="Calibri" panose="020F0502020204030204"/>
            </a:endParaRPr>
          </a:p>
        </c:rich>
      </c:tx>
      <c:layout/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Matching Accuracy (%)</c:v>
                </c:pt>
              </c:strCache>
            </c:strRef>
          </c:tx>
          <c:spPr>
            <a:solidFill>
              <a:srgbClr val="1E2761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100" b="0" i="0" u="none" strike="noStrike" kern="1200" baseline="0">
                    <a:solidFill>
                      <a:srgbClr val="1B1F3B"/>
                    </a:solidFill>
                    <a:latin typeface="Arial" panose="020B0604020202020204"/>
                    <a:ea typeface="+mn-ea"/>
                    <a:cs typeface="+mn-cs"/>
                  </a:defRPr>
                </a:pPr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  <c15:leaderLines/>
              </c:ext>
            </c:extLst>
          </c:dLbls>
          <c:cat>
            <c:strRef>
              <c:f>Sheet1!$A$2:$A$4</c:f>
              <c:strCache>
                <c:ptCount val="3"/>
                <c:pt idx="0">
                  <c:v>Correlation-
Based</c:v>
                </c:pt>
                <c:pt idx="1">
                  <c:v>Ridge Pattern
(Texture)</c:v>
                </c:pt>
                <c:pt idx="2">
                  <c:v>Feature-Based
(Minutiae)</c:v>
                </c:pt>
              </c:strCache>
            </c: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78</c:v>
                </c:pt>
                <c:pt idx="1">
                  <c:v>85</c:v>
                </c:pt>
                <c:pt idx="2">
                  <c:v>96</c:v>
                </c:pt>
              </c:numCache>
            </c:numRef>
          </c:val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overlap val="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50" b="0" i="0" u="none" strike="noStrike" kern="1200" baseline="0">
                <a:solidFill>
                  <a:srgbClr val="5A6280"/>
                </a:solidFill>
                <a:latin typeface="Calibri" panose="020F0502020204030204"/>
                <a:ea typeface="+mn-ea"/>
                <a:cs typeface="+mn-cs"/>
              </a:defRPr>
            </a:pPr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  <c:max val="100"/>
          <c:min val="0"/>
        </c:scaling>
        <c:delete val="0"/>
        <c:axPos val="l"/>
        <c:majorGridlines>
          <c:spPr>
            <a:ln w="12700" cap="flat" cmpd="sng" algn="ctr">
              <a:solidFill>
                <a:srgbClr val="E3E6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 cmpd="sng" algn="ctr">
            <a:solidFill>
              <a:srgbClr val="888888"/>
            </a:solidFill>
            <a:prstDash val="solid"/>
            <a:round/>
          </a:ln>
        </c:spPr>
        <c:txPr>
          <a:bodyPr rot="-60000000" spcFirstLastPara="0" vertOverflow="ellipsis" vert="horz" wrap="square" anchor="ctr" anchorCtr="1"/>
          <a:lstStyle/>
          <a:p>
            <a:pPr>
              <a:defRPr lang="en-US" sz="1000" b="0" i="0" u="none" strike="noStrike" kern="1200" baseline="0">
                <a:solidFill>
                  <a:srgbClr val="5A6280"/>
                </a:solidFill>
                <a:latin typeface="Arial" panose="020B0604020202020204"/>
                <a:ea typeface="+mn-ea"/>
                <a:cs typeface="+mn-cs"/>
              </a:defRPr>
            </a:pPr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0"/>
    <c:extLst>
      <c:ext uri="{0b15fc19-7d7d-44ad-8c2d-2c3a37ce22c3}">
        <chartProps xmlns="https://web.wps.cn/et/2018/main" chartId="{86e78dd7-512f-4e08-9f1f-abf1fe80edc6}"/>
      </c:ext>
    </c:extLst>
  </c:chart>
  <c:spPr>
    <a:noFill/>
    <a:ln>
      <a:noFill/>
    </a:ln>
    <a:effectLst/>
  </c:spPr>
  <c:txPr>
    <a:bodyPr/>
    <a:lstStyle/>
    <a:p>
      <a:pPr>
        <a:defRPr lang="en-US"/>
      </a:pPr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</a:fld>
            <a:endParaRPr 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2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2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3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4.png"/><Relationship Id="rId3" Type="http://schemas.openxmlformats.org/officeDocument/2006/relationships/image" Target="../media/image6.png"/><Relationship Id="rId2" Type="http://schemas.openxmlformats.org/officeDocument/2006/relationships/image" Target="../media/image2.png"/><Relationship Id="rId1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4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9.png"/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chart" Target="../charts/chart1.xml"/></Relationships>
</file>

<file path=ppt/slides/_rels/slide5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5.xml"/><Relationship Id="rId5" Type="http://schemas.openxmlformats.org/officeDocument/2006/relationships/slideLayout" Target="../slideLayouts/slideLayout1.xml"/><Relationship Id="rId4" Type="http://schemas.openxmlformats.org/officeDocument/2006/relationships/image" Target="../media/image12.png"/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gerprint_ice.png"/>
          <p:cNvPicPr>
            <a:picLocks noChangeAspect="1"/>
          </p:cNvPicPr>
          <p:nvPr/>
        </p:nvPicPr>
        <p:blipFill>
          <a:blip r:embed="rId1">
            <a:alphaModFix amt="18000"/>
          </a:blip>
          <a:stretch>
            <a:fillRect/>
          </a:stretch>
        </p:blipFill>
        <p:spPr>
          <a:xfrm>
            <a:off x="8778240" y="1005840"/>
            <a:ext cx="3108960" cy="310896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1965960"/>
            <a:ext cx="7772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kern="0" spc="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FEATURE-BASED</a:t>
            </a:r>
            <a:endParaRPr lang="en-US" sz="2000" dirty="0"/>
          </a:p>
        </p:txBody>
      </p:sp>
      <p:sp>
        <p:nvSpPr>
          <p:cNvPr id="4" name="Text 1"/>
          <p:cNvSpPr/>
          <p:nvPr/>
        </p:nvSpPr>
        <p:spPr>
          <a:xfrm>
            <a:off x="640080" y="2423160"/>
            <a:ext cx="8686800" cy="10058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4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Fingerprint Matching</a:t>
            </a:r>
            <a:endParaRPr lang="en-US" sz="4400" dirty="0"/>
          </a:p>
        </p:txBody>
      </p:sp>
      <p:sp>
        <p:nvSpPr>
          <p:cNvPr id="5" name="Text 2"/>
          <p:cNvSpPr/>
          <p:nvPr/>
        </p:nvSpPr>
        <p:spPr>
          <a:xfrm>
            <a:off x="640080" y="3337560"/>
            <a:ext cx="8229600" cy="4572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i="1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 Technical Case Study on Minutiae-Based Biometric Identification</a:t>
            </a:r>
            <a:endParaRPr lang="en-US" sz="1600" dirty="0"/>
          </a:p>
        </p:txBody>
      </p:sp>
      <p:sp>
        <p:nvSpPr>
          <p:cNvPr id="6" name="Shape 3"/>
          <p:cNvSpPr/>
          <p:nvPr/>
        </p:nvSpPr>
        <p:spPr>
          <a:xfrm>
            <a:off x="658368" y="3977640"/>
            <a:ext cx="201168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640080" y="5989320"/>
            <a:ext cx="5486400" cy="64008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Sudharsan D -192524063</a:t>
            </a:r>
            <a:endParaRPr lang="en-US" sz="1300" b="1" dirty="0">
              <a:solidFill>
                <a:srgbClr val="FFFFFF"/>
              </a:solidFill>
              <a:latin typeface="Calibri" panose="020F0502020204030204" pitchFamily="34" charset="0"/>
              <a:ea typeface="Calibri" panose="020F0502020204030204" pitchFamily="34" charset="-122"/>
              <a:cs typeface="Calibri" panose="020F0502020204030204" pitchFamily="34" charset="-120"/>
            </a:endParaRPr>
          </a:p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Artificial Intelligent &amp; Data Science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What Is Feature-Based Matching?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Fingerprints are compared using discriminative ridge structures rather than raw pixels.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691640"/>
            <a:ext cx="5029200" cy="4480560"/>
          </a:xfrm>
          <a:prstGeom prst="roundRect">
            <a:avLst>
              <a:gd name="adj" fmla="val 2449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101600" dist="38100" dir="5400000" algn="bl" rotWithShape="0">
              <a:srgbClr val="1E2761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196596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6" name="Image 0" descr="fingerprint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0003" y="2037283"/>
            <a:ext cx="405994" cy="40599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8424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Minutiae</a:t>
            </a:r>
            <a:endParaRPr lang="en-US" sz="1600" dirty="0"/>
          </a:p>
        </p:txBody>
      </p:sp>
      <p:sp>
        <p:nvSpPr>
          <p:cNvPr id="8" name="Text 5"/>
          <p:cNvSpPr/>
          <p:nvPr/>
        </p:nvSpPr>
        <p:spPr>
          <a:xfrm>
            <a:off x="868680" y="260604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Ridge endings and bifurcations act as unique landmark points on the fingertip surface.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868680" y="3364992"/>
            <a:ext cx="44805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868680" y="352044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1" name="Image 1" descr="search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003" y="3591763"/>
            <a:ext cx="405994" cy="40599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1554480" y="353872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Local Feature Vectors</a:t>
            </a:r>
            <a:endParaRPr lang="en-US" sz="1600" dirty="0"/>
          </a:p>
        </p:txBody>
      </p:sp>
      <p:sp>
        <p:nvSpPr>
          <p:cNvPr id="13" name="Text 9"/>
          <p:cNvSpPr/>
          <p:nvPr/>
        </p:nvSpPr>
        <p:spPr>
          <a:xfrm>
            <a:off x="868680" y="4160520"/>
            <a:ext cx="448056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Each minutia is encoded by position, orientation, and ridge-count context relative to its neighbors.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868680" y="4919472"/>
            <a:ext cx="4480560" cy="0"/>
          </a:xfrm>
          <a:prstGeom prst="line">
            <a:avLst/>
          </a:prstGeom>
          <a:noFill/>
          <a:ln w="12700">
            <a:solidFill>
              <a:srgbClr val="E3E6F0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868680" y="5074920"/>
            <a:ext cx="548640" cy="54864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2" descr="project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0003" y="5146243"/>
            <a:ext cx="405994" cy="40599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5093208"/>
            <a:ext cx="36576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60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Why It Works</a:t>
            </a:r>
            <a:endParaRPr lang="en-US" sz="1600" dirty="0"/>
          </a:p>
        </p:txBody>
      </p:sp>
      <p:sp>
        <p:nvSpPr>
          <p:cNvPr id="18" name="Text 13"/>
          <p:cNvSpPr/>
          <p:nvPr/>
        </p:nvSpPr>
        <p:spPr>
          <a:xfrm>
            <a:off x="868680" y="5715000"/>
            <a:ext cx="4480560" cy="4114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Compact, rotation/translation-tolerant descriptors scale to large gallery databases.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5852160" y="1691640"/>
            <a:ext cx="5760720" cy="2103120"/>
          </a:xfrm>
          <a:prstGeom prst="roundRect">
            <a:avLst>
              <a:gd name="adj" fmla="val 5217"/>
            </a:avLst>
          </a:prstGeom>
          <a:solidFill>
            <a:srgbClr val="1E2761"/>
          </a:solidFill>
        </p:spPr>
      </p:sp>
      <p:sp>
        <p:nvSpPr>
          <p:cNvPr id="20" name="Text 15"/>
          <p:cNvSpPr/>
          <p:nvPr/>
        </p:nvSpPr>
        <p:spPr>
          <a:xfrm>
            <a:off x="6217920" y="192024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40-100</a:t>
            </a:r>
            <a:endParaRPr lang="en-US" sz="4600" dirty="0"/>
          </a:p>
        </p:txBody>
      </p:sp>
      <p:sp>
        <p:nvSpPr>
          <p:cNvPr id="21" name="Text 16"/>
          <p:cNvSpPr/>
          <p:nvPr/>
        </p:nvSpPr>
        <p:spPr>
          <a:xfrm>
            <a:off x="6217920" y="2697480"/>
            <a:ext cx="5029200" cy="8229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Minutiae points typically detected per fingerprint image</a:t>
            </a:r>
            <a:endParaRPr lang="en-US" sz="1300" dirty="0"/>
          </a:p>
        </p:txBody>
      </p:sp>
      <p:sp>
        <p:nvSpPr>
          <p:cNvPr id="22" name="Shape 17"/>
          <p:cNvSpPr/>
          <p:nvPr/>
        </p:nvSpPr>
        <p:spPr>
          <a:xfrm>
            <a:off x="5852160" y="3977640"/>
            <a:ext cx="5760720" cy="219456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23" name="Text 18"/>
          <p:cNvSpPr/>
          <p:nvPr/>
        </p:nvSpPr>
        <p:spPr>
          <a:xfrm>
            <a:off x="6217920" y="4206240"/>
            <a:ext cx="5029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Global standard</a:t>
            </a:r>
            <a:endParaRPr lang="en-US" sz="1300" dirty="0"/>
          </a:p>
        </p:txBody>
      </p:sp>
      <p:sp>
        <p:nvSpPr>
          <p:cNvPr id="24" name="Text 19"/>
          <p:cNvSpPr/>
          <p:nvPr/>
        </p:nvSpPr>
        <p:spPr>
          <a:xfrm>
            <a:off x="6217920" y="4617720"/>
            <a:ext cx="5029200" cy="13716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Feature-based (minutiae) matching underlies FBI IAFIS, Aadhaar, and most commercial AFIS deployments — chosen over correlation or ridge-pattern methods for its accuracy and storage efficiency.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Matching Pipeline</a:t>
            </a:r>
            <a:endParaRPr lang="en-US" sz="30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96012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Four stages transform a raw scan into a verified match decision.</a:t>
            </a:r>
            <a:endParaRPr lang="en-US" sz="1400" dirty="0"/>
          </a:p>
        </p:txBody>
      </p:sp>
      <p:sp>
        <p:nvSpPr>
          <p:cNvPr id="4" name="Shape 2"/>
          <p:cNvSpPr/>
          <p:nvPr/>
        </p:nvSpPr>
        <p:spPr>
          <a:xfrm>
            <a:off x="548640" y="1874520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523744" y="2075688"/>
            <a:ext cx="365760" cy="3657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6" name="Text 4"/>
          <p:cNvSpPr/>
          <p:nvPr/>
        </p:nvSpPr>
        <p:spPr>
          <a:xfrm>
            <a:off x="2523744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1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804672" y="21945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8" name="Image 0" descr="image_white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3826" y="2283714"/>
            <a:ext cx="507492" cy="507492"/>
          </a:xfrm>
          <a:prstGeom prst="rect">
            <a:avLst/>
          </a:prstGeom>
        </p:spPr>
      </p:pic>
      <p:sp>
        <p:nvSpPr>
          <p:cNvPr id="9" name="Text 6"/>
          <p:cNvSpPr/>
          <p:nvPr/>
        </p:nvSpPr>
        <p:spPr>
          <a:xfrm>
            <a:off x="804672" y="3108960"/>
            <a:ext cx="20299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Preprocessing</a:t>
            </a:r>
            <a:endParaRPr lang="en-US" sz="1550" dirty="0"/>
          </a:p>
        </p:txBody>
      </p:sp>
      <p:sp>
        <p:nvSpPr>
          <p:cNvPr id="10" name="Text 7"/>
          <p:cNvSpPr/>
          <p:nvPr/>
        </p:nvSpPr>
        <p:spPr>
          <a:xfrm>
            <a:off x="804672" y="3657600"/>
            <a:ext cx="202996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Normalize, segment ridge area, estimate orientation field, binarize &amp; thin ridges.</a:t>
            </a:r>
            <a:endParaRPr lang="en-US" sz="1150" dirty="0"/>
          </a:p>
        </p:txBody>
      </p:sp>
      <p:sp>
        <p:nvSpPr>
          <p:cNvPr id="11" name="Text 8"/>
          <p:cNvSpPr/>
          <p:nvPr/>
        </p:nvSpPr>
        <p:spPr>
          <a:xfrm>
            <a:off x="3108960" y="3680460"/>
            <a:ext cx="2194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12" name="Shape 9"/>
          <p:cNvSpPr/>
          <p:nvPr/>
        </p:nvSpPr>
        <p:spPr>
          <a:xfrm>
            <a:off x="3346704" y="1874520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13" name="Shape 10"/>
          <p:cNvSpPr/>
          <p:nvPr/>
        </p:nvSpPr>
        <p:spPr>
          <a:xfrm>
            <a:off x="5321808" y="2075688"/>
            <a:ext cx="365760" cy="3657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14" name="Text 11"/>
          <p:cNvSpPr/>
          <p:nvPr/>
        </p:nvSpPr>
        <p:spPr>
          <a:xfrm>
            <a:off x="5321808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2</a:t>
            </a:r>
            <a:endParaRPr lang="en-US" sz="1400" dirty="0"/>
          </a:p>
        </p:txBody>
      </p:sp>
      <p:sp>
        <p:nvSpPr>
          <p:cNvPr id="15" name="Shape 12"/>
          <p:cNvSpPr/>
          <p:nvPr/>
        </p:nvSpPr>
        <p:spPr>
          <a:xfrm>
            <a:off x="3602736" y="21945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6" name="Image 1" descr="fingerprint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1890" y="2283714"/>
            <a:ext cx="507492" cy="507492"/>
          </a:xfrm>
          <a:prstGeom prst="rect">
            <a:avLst/>
          </a:prstGeom>
        </p:spPr>
      </p:pic>
      <p:sp>
        <p:nvSpPr>
          <p:cNvPr id="17" name="Text 13"/>
          <p:cNvSpPr/>
          <p:nvPr/>
        </p:nvSpPr>
        <p:spPr>
          <a:xfrm>
            <a:off x="3602736" y="3108960"/>
            <a:ext cx="20299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Minutiae Extraction</a:t>
            </a:r>
            <a:endParaRPr lang="en-US" sz="1550" dirty="0"/>
          </a:p>
        </p:txBody>
      </p:sp>
      <p:sp>
        <p:nvSpPr>
          <p:cNvPr id="18" name="Text 14"/>
          <p:cNvSpPr/>
          <p:nvPr/>
        </p:nvSpPr>
        <p:spPr>
          <a:xfrm>
            <a:off x="3602736" y="3657600"/>
            <a:ext cx="202996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Detect ridge endings &amp; bifurcations; filter spurious points near borders and noise.</a:t>
            </a:r>
            <a:endParaRPr lang="en-US" sz="1150" dirty="0"/>
          </a:p>
        </p:txBody>
      </p:sp>
      <p:sp>
        <p:nvSpPr>
          <p:cNvPr id="19" name="Text 15"/>
          <p:cNvSpPr/>
          <p:nvPr/>
        </p:nvSpPr>
        <p:spPr>
          <a:xfrm>
            <a:off x="5907024" y="3680460"/>
            <a:ext cx="2194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0" name="Shape 16"/>
          <p:cNvSpPr/>
          <p:nvPr/>
        </p:nvSpPr>
        <p:spPr>
          <a:xfrm>
            <a:off x="6144768" y="1874520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1" name="Shape 17"/>
          <p:cNvSpPr/>
          <p:nvPr/>
        </p:nvSpPr>
        <p:spPr>
          <a:xfrm>
            <a:off x="8119872" y="2075688"/>
            <a:ext cx="365760" cy="3657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22" name="Text 18"/>
          <p:cNvSpPr/>
          <p:nvPr/>
        </p:nvSpPr>
        <p:spPr>
          <a:xfrm>
            <a:off x="8119872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3</a:t>
            </a:r>
            <a:endParaRPr lang="en-US" sz="1400" dirty="0"/>
          </a:p>
        </p:txBody>
      </p:sp>
      <p:sp>
        <p:nvSpPr>
          <p:cNvPr id="23" name="Shape 19"/>
          <p:cNvSpPr/>
          <p:nvPr/>
        </p:nvSpPr>
        <p:spPr>
          <a:xfrm>
            <a:off x="6400800" y="21945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24" name="Image 2" descr="layer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89954" y="2283714"/>
            <a:ext cx="507492" cy="507492"/>
          </a:xfrm>
          <a:prstGeom prst="rect">
            <a:avLst/>
          </a:prstGeom>
        </p:spPr>
      </p:pic>
      <p:sp>
        <p:nvSpPr>
          <p:cNvPr id="25" name="Text 20"/>
          <p:cNvSpPr/>
          <p:nvPr/>
        </p:nvSpPr>
        <p:spPr>
          <a:xfrm>
            <a:off x="6400800" y="3108960"/>
            <a:ext cx="20299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 Encoding</a:t>
            </a:r>
            <a:endParaRPr lang="en-US" sz="1550" dirty="0"/>
          </a:p>
        </p:txBody>
      </p:sp>
      <p:sp>
        <p:nvSpPr>
          <p:cNvPr id="26" name="Text 21"/>
          <p:cNvSpPr/>
          <p:nvPr/>
        </p:nvSpPr>
        <p:spPr>
          <a:xfrm>
            <a:off x="6400800" y="3657600"/>
            <a:ext cx="202996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Build local descriptors: minutia type, (x, y), orientation θ, neighboring ridge counts.</a:t>
            </a:r>
            <a:endParaRPr lang="en-US" sz="1150" dirty="0"/>
          </a:p>
        </p:txBody>
      </p:sp>
      <p:sp>
        <p:nvSpPr>
          <p:cNvPr id="27" name="Text 22"/>
          <p:cNvSpPr/>
          <p:nvPr/>
        </p:nvSpPr>
        <p:spPr>
          <a:xfrm>
            <a:off x="8705088" y="3680460"/>
            <a:ext cx="219456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000" b="1" dirty="0">
                <a:solidFill>
                  <a:srgbClr val="1E2761"/>
                </a:solidFill>
                <a:latin typeface="Arial" panose="020B0604020202020204" pitchFamily="34" charset="0"/>
                <a:ea typeface="Arial" panose="020B0604020202020204" pitchFamily="34" charset="-122"/>
                <a:cs typeface="Arial" panose="020B0604020202020204" pitchFamily="34" charset="-120"/>
              </a:rPr>
              <a:t>→</a:t>
            </a:r>
            <a:endParaRPr lang="en-US" sz="2000" dirty="0"/>
          </a:p>
        </p:txBody>
      </p:sp>
      <p:sp>
        <p:nvSpPr>
          <p:cNvPr id="28" name="Shape 23"/>
          <p:cNvSpPr/>
          <p:nvPr/>
        </p:nvSpPr>
        <p:spPr>
          <a:xfrm>
            <a:off x="8942832" y="1874520"/>
            <a:ext cx="2542032" cy="4160520"/>
          </a:xfrm>
          <a:prstGeom prst="roundRect">
            <a:avLst>
              <a:gd name="adj" fmla="val 431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  <a:effectLst>
            <a:outerShdw blurRad="76200" dist="25400" dir="5400000" algn="bl" rotWithShape="0">
              <a:srgbClr val="1E2761">
                <a:alpha val="10000"/>
              </a:srgbClr>
            </a:outerShdw>
          </a:effectLst>
        </p:spPr>
      </p:sp>
      <p:sp>
        <p:nvSpPr>
          <p:cNvPr id="29" name="Shape 24"/>
          <p:cNvSpPr/>
          <p:nvPr/>
        </p:nvSpPr>
        <p:spPr>
          <a:xfrm>
            <a:off x="10917936" y="2075688"/>
            <a:ext cx="365760" cy="365760"/>
          </a:xfrm>
          <a:prstGeom prst="ellipse">
            <a:avLst/>
          </a:prstGeom>
          <a:solidFill>
            <a:srgbClr val="CADCFC"/>
          </a:solidFill>
        </p:spPr>
      </p:sp>
      <p:sp>
        <p:nvSpPr>
          <p:cNvPr id="30" name="Text 25"/>
          <p:cNvSpPr/>
          <p:nvPr/>
        </p:nvSpPr>
        <p:spPr>
          <a:xfrm>
            <a:off x="10917936" y="2075688"/>
            <a:ext cx="365760" cy="36576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4</a:t>
            </a:r>
            <a:endParaRPr lang="en-US" sz="1400" dirty="0"/>
          </a:p>
        </p:txBody>
      </p:sp>
      <p:sp>
        <p:nvSpPr>
          <p:cNvPr id="31" name="Shape 26"/>
          <p:cNvSpPr/>
          <p:nvPr/>
        </p:nvSpPr>
        <p:spPr>
          <a:xfrm>
            <a:off x="9198864" y="2194560"/>
            <a:ext cx="685800" cy="68580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32" name="Image 3" descr="projec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88018" y="2283714"/>
            <a:ext cx="507492" cy="507492"/>
          </a:xfrm>
          <a:prstGeom prst="rect">
            <a:avLst/>
          </a:prstGeom>
        </p:spPr>
      </p:pic>
      <p:sp>
        <p:nvSpPr>
          <p:cNvPr id="33" name="Text 27"/>
          <p:cNvSpPr/>
          <p:nvPr/>
        </p:nvSpPr>
        <p:spPr>
          <a:xfrm>
            <a:off x="9198864" y="3108960"/>
            <a:ext cx="2029968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550" b="1" dirty="0">
                <a:solidFill>
                  <a:srgbClr val="1B1F3B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&amp; Scoring</a:t>
            </a:r>
            <a:endParaRPr lang="en-US" sz="1550" dirty="0"/>
          </a:p>
        </p:txBody>
      </p:sp>
      <p:sp>
        <p:nvSpPr>
          <p:cNvPr id="34" name="Text 28"/>
          <p:cNvSpPr/>
          <p:nvPr/>
        </p:nvSpPr>
        <p:spPr>
          <a:xfrm>
            <a:off x="9198864" y="3657600"/>
            <a:ext cx="2029968" cy="210312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Align point sets, count corresponding minutiae, output a similarity score vs. threshold.</a:t>
            </a:r>
            <a:endParaRPr lang="en-US" sz="1150" dirty="0"/>
          </a:p>
        </p:txBody>
      </p:sp>
      <p:sp>
        <p:nvSpPr>
          <p:cNvPr id="35" name="Shape 29"/>
          <p:cNvSpPr/>
          <p:nvPr/>
        </p:nvSpPr>
        <p:spPr>
          <a:xfrm>
            <a:off x="548640" y="6199632"/>
            <a:ext cx="11064240" cy="457200"/>
          </a:xfrm>
          <a:prstGeom prst="roundRect">
            <a:avLst>
              <a:gd name="adj" fmla="val 16000"/>
            </a:avLst>
          </a:prstGeom>
          <a:solidFill>
            <a:srgbClr val="EDF1FB"/>
          </a:solidFill>
        </p:spPr>
      </p:sp>
      <p:sp>
        <p:nvSpPr>
          <p:cNvPr id="36" name="Text 30"/>
          <p:cNvSpPr/>
          <p:nvPr/>
        </p:nvSpPr>
        <p:spPr>
          <a:xfrm>
            <a:off x="731520" y="6199632"/>
            <a:ext cx="1069848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1E2761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Common algorithm: minutiae-based point-pattern matching with local + global alignment (e.g., Jain et al.)</a:t>
            </a:r>
            <a:endParaRPr lang="en-US" sz="11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457200"/>
            <a:ext cx="96012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800" b="1" dirty="0">
                <a:solidFill>
                  <a:srgbClr val="1B1F3B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Case Study: Results &amp; Performance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548640" y="1078992"/>
            <a:ext cx="100584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Evaluated on a standard FVC-style fingerprint database with genuine and impostor score pairs.</a:t>
            </a:r>
            <a:endParaRPr lang="en-US" sz="14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548640" y="1691640"/>
          <a:ext cx="5486400" cy="41605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6355080" y="169164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6" name="Shape 3"/>
          <p:cNvSpPr/>
          <p:nvPr/>
        </p:nvSpPr>
        <p:spPr>
          <a:xfrm>
            <a:off x="6583680" y="198424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7" name="Image 0" descr="check_wh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66890" y="2067458"/>
            <a:ext cx="473659" cy="473659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7452360" y="181965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96.2%</a:t>
            </a:r>
            <a:endParaRPr lang="en-US" sz="2600" dirty="0"/>
          </a:p>
        </p:txBody>
      </p:sp>
      <p:sp>
        <p:nvSpPr>
          <p:cNvPr id="9" name="Text 5"/>
          <p:cNvSpPr/>
          <p:nvPr/>
        </p:nvSpPr>
        <p:spPr>
          <a:xfrm>
            <a:off x="7452360" y="237744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Matching accuracy achieved</a:t>
            </a:r>
            <a:endParaRPr lang="en-US" sz="1150" dirty="0"/>
          </a:p>
        </p:txBody>
      </p:sp>
      <p:sp>
        <p:nvSpPr>
          <p:cNvPr id="10" name="Shape 6"/>
          <p:cNvSpPr/>
          <p:nvPr/>
        </p:nvSpPr>
        <p:spPr>
          <a:xfrm>
            <a:off x="6355080" y="310896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1" name="Shape 7"/>
          <p:cNvSpPr/>
          <p:nvPr/>
        </p:nvSpPr>
        <p:spPr>
          <a:xfrm>
            <a:off x="6583680" y="340156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2" name="Image 1" descr="shield_whit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66890" y="3484778"/>
            <a:ext cx="473659" cy="473659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7452360" y="323697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1.8%</a:t>
            </a:r>
            <a:endParaRPr lang="en-US" sz="2600" dirty="0"/>
          </a:p>
        </p:txBody>
      </p:sp>
      <p:sp>
        <p:nvSpPr>
          <p:cNvPr id="14" name="Text 9"/>
          <p:cNvSpPr/>
          <p:nvPr/>
        </p:nvSpPr>
        <p:spPr>
          <a:xfrm>
            <a:off x="7452360" y="379476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Equal Error Rate (FAR = FRR)</a:t>
            </a:r>
            <a:endParaRPr lang="en-US" sz="1150" dirty="0"/>
          </a:p>
        </p:txBody>
      </p:sp>
      <p:sp>
        <p:nvSpPr>
          <p:cNvPr id="15" name="Shape 10"/>
          <p:cNvSpPr/>
          <p:nvPr/>
        </p:nvSpPr>
        <p:spPr>
          <a:xfrm>
            <a:off x="6355080" y="4526280"/>
            <a:ext cx="5257800" cy="1234440"/>
          </a:xfrm>
          <a:prstGeom prst="roundRect">
            <a:avLst>
              <a:gd name="adj" fmla="val 7407"/>
            </a:avLst>
          </a:prstGeom>
          <a:solidFill>
            <a:srgbClr val="FFFFFF"/>
          </a:solidFill>
          <a:ln w="12700">
            <a:solidFill>
              <a:srgbClr val="E3E6F0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6583680" y="4818888"/>
            <a:ext cx="640080" cy="640080"/>
          </a:xfrm>
          <a:prstGeom prst="ellipse">
            <a:avLst/>
          </a:prstGeom>
          <a:solidFill>
            <a:srgbClr val="1E2761"/>
          </a:solidFill>
        </p:spPr>
      </p:sp>
      <p:pic>
        <p:nvPicPr>
          <p:cNvPr id="17" name="Image 2" descr="chart_whit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666890" y="4902098"/>
            <a:ext cx="473659" cy="473659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7452360" y="4654296"/>
            <a:ext cx="1828800" cy="54864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1E2761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0.4s</a:t>
            </a:r>
            <a:endParaRPr lang="en-US" sz="2600" dirty="0"/>
          </a:p>
        </p:txBody>
      </p:sp>
      <p:sp>
        <p:nvSpPr>
          <p:cNvPr id="19" name="Text 13"/>
          <p:cNvSpPr/>
          <p:nvPr/>
        </p:nvSpPr>
        <p:spPr>
          <a:xfrm>
            <a:off x="7452360" y="5212080"/>
            <a:ext cx="3977640" cy="457200"/>
          </a:xfrm>
          <a:prstGeom prst="rect">
            <a:avLst/>
          </a:prstGeom>
          <a:noFill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Avg. match time per query</a:t>
            </a:r>
            <a:endParaRPr lang="en-US" sz="1150" dirty="0"/>
          </a:p>
        </p:txBody>
      </p:sp>
      <p:sp>
        <p:nvSpPr>
          <p:cNvPr id="20" name="Text 14"/>
          <p:cNvSpPr/>
          <p:nvPr/>
        </p:nvSpPr>
        <p:spPr>
          <a:xfrm>
            <a:off x="6355080" y="5989320"/>
            <a:ext cx="5257800" cy="68580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5A6280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Feature-based matching outperformed correlation and texture-based baselines while remaining computationally lightweight enough for real-time use.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E27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fingerprint_ice.png"/>
          <p:cNvPicPr>
            <a:picLocks noChangeAspect="1"/>
          </p:cNvPicPr>
          <p:nvPr/>
        </p:nvPicPr>
        <p:blipFill>
          <a:blip r:embed="rId1">
            <a:alphaModFix amt="16000"/>
          </a:blip>
          <a:stretch>
            <a:fillRect/>
          </a:stretch>
        </p:blipFill>
        <p:spPr>
          <a:xfrm>
            <a:off x="9235440" y="4297680"/>
            <a:ext cx="2377440" cy="237744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40080" y="548640"/>
            <a:ext cx="9144000" cy="64008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Conclusion &amp; Applications</a:t>
            </a:r>
            <a:endParaRPr lang="en-US" sz="3000" dirty="0"/>
          </a:p>
        </p:txBody>
      </p:sp>
      <p:sp>
        <p:nvSpPr>
          <p:cNvPr id="4" name="Shape 1"/>
          <p:cNvSpPr/>
          <p:nvPr/>
        </p:nvSpPr>
        <p:spPr>
          <a:xfrm>
            <a:off x="658368" y="1234440"/>
            <a:ext cx="1828800" cy="0"/>
          </a:xfrm>
          <a:prstGeom prst="line">
            <a:avLst/>
          </a:prstGeom>
          <a:noFill/>
          <a:ln w="19050">
            <a:solidFill>
              <a:srgbClr val="CADCFC"/>
            </a:solidFill>
            <a:prstDash val="solid"/>
          </a:ln>
        </p:spPr>
      </p:sp>
      <p:sp>
        <p:nvSpPr>
          <p:cNvPr id="5" name="Shape 2"/>
          <p:cNvSpPr/>
          <p:nvPr/>
        </p:nvSpPr>
        <p:spPr>
          <a:xfrm>
            <a:off x="685800" y="1828800"/>
            <a:ext cx="566928" cy="566928"/>
          </a:xfrm>
          <a:prstGeom prst="ellipse">
            <a:avLst/>
          </a:prstGeom>
          <a:solidFill>
            <a:srgbClr val="CADCFC"/>
          </a:solidFill>
        </p:spPr>
      </p:sp>
      <p:pic>
        <p:nvPicPr>
          <p:cNvPr id="6" name="Image 1" descr="check_nav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965960"/>
            <a:ext cx="292608" cy="29260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508760" y="1801368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Robust &amp; Efficient</a:t>
            </a:r>
            <a:endParaRPr lang="en-US" sz="1700" dirty="0"/>
          </a:p>
        </p:txBody>
      </p:sp>
      <p:sp>
        <p:nvSpPr>
          <p:cNvPr id="8" name="Text 4"/>
          <p:cNvSpPr/>
          <p:nvPr/>
        </p:nvSpPr>
        <p:spPr>
          <a:xfrm>
            <a:off x="1508760" y="219456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Minutiae descriptors give high accuracy with a compact, rotation-tolerant template.</a:t>
            </a:r>
            <a:endParaRPr lang="en-US" sz="1300" dirty="0"/>
          </a:p>
        </p:txBody>
      </p:sp>
      <p:sp>
        <p:nvSpPr>
          <p:cNvPr id="9" name="Shape 5"/>
          <p:cNvSpPr/>
          <p:nvPr/>
        </p:nvSpPr>
        <p:spPr>
          <a:xfrm>
            <a:off x="685800" y="3063240"/>
            <a:ext cx="566928" cy="566928"/>
          </a:xfrm>
          <a:prstGeom prst="ellipse">
            <a:avLst/>
          </a:prstGeom>
          <a:solidFill>
            <a:srgbClr val="CADCFC"/>
          </a:solidFill>
        </p:spPr>
      </p:sp>
      <p:pic>
        <p:nvPicPr>
          <p:cNvPr id="10" name="Image 2" descr="shield_nav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22960" y="3200400"/>
            <a:ext cx="292608" cy="292608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1508760" y="3035808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Real-World Deployment</a:t>
            </a:r>
            <a:endParaRPr lang="en-US" sz="1700" dirty="0"/>
          </a:p>
        </p:txBody>
      </p:sp>
      <p:sp>
        <p:nvSpPr>
          <p:cNvPr id="12" name="Text 7"/>
          <p:cNvSpPr/>
          <p:nvPr/>
        </p:nvSpPr>
        <p:spPr>
          <a:xfrm>
            <a:off x="1508760" y="342900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Powers law-enforcement AFIS, national ID systems, and mobile device unlock.</a:t>
            </a:r>
            <a:endParaRPr lang="en-US" sz="1300" dirty="0"/>
          </a:p>
        </p:txBody>
      </p:sp>
      <p:sp>
        <p:nvSpPr>
          <p:cNvPr id="13" name="Shape 8"/>
          <p:cNvSpPr/>
          <p:nvPr/>
        </p:nvSpPr>
        <p:spPr>
          <a:xfrm>
            <a:off x="685800" y="4297680"/>
            <a:ext cx="566928" cy="566928"/>
          </a:xfrm>
          <a:prstGeom prst="ellipse">
            <a:avLst/>
          </a:prstGeom>
          <a:solidFill>
            <a:srgbClr val="CADCFC"/>
          </a:solidFill>
        </p:spPr>
      </p:sp>
      <p:pic>
        <p:nvPicPr>
          <p:cNvPr id="14" name="Image 3" descr="search_navy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22960" y="4434840"/>
            <a:ext cx="292608" cy="292608"/>
          </a:xfrm>
          <a:prstGeom prst="rect">
            <a:avLst/>
          </a:prstGeom>
        </p:spPr>
      </p:pic>
      <p:sp>
        <p:nvSpPr>
          <p:cNvPr id="15" name="Text 9"/>
          <p:cNvSpPr/>
          <p:nvPr/>
        </p:nvSpPr>
        <p:spPr>
          <a:xfrm>
            <a:off x="1508760" y="4270248"/>
            <a:ext cx="8686800" cy="36576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FFFFFF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Future Direction</a:t>
            </a:r>
            <a:endParaRPr lang="en-US" sz="1700" dirty="0"/>
          </a:p>
        </p:txBody>
      </p:sp>
      <p:sp>
        <p:nvSpPr>
          <p:cNvPr id="16" name="Text 10"/>
          <p:cNvSpPr/>
          <p:nvPr/>
        </p:nvSpPr>
        <p:spPr>
          <a:xfrm>
            <a:off x="1508760" y="4663440"/>
            <a:ext cx="86868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CADCFC"/>
                </a:solidFill>
                <a:latin typeface="Calibri" panose="020F0502020204030204" pitchFamily="34" charset="0"/>
                <a:ea typeface="Calibri" panose="020F0502020204030204" pitchFamily="34" charset="-122"/>
                <a:cs typeface="Calibri" panose="020F0502020204030204" pitchFamily="34" charset="-120"/>
              </a:rPr>
              <a:t>Hybrid CNN + minutiae pipelines can further improve matching on low-quality scans.</a:t>
            </a:r>
            <a:endParaRPr lang="en-US" sz="1300" dirty="0"/>
          </a:p>
        </p:txBody>
      </p:sp>
      <p:sp>
        <p:nvSpPr>
          <p:cNvPr id="17" name="Text 11"/>
          <p:cNvSpPr/>
          <p:nvPr/>
        </p:nvSpPr>
        <p:spPr>
          <a:xfrm>
            <a:off x="640080" y="5989320"/>
            <a:ext cx="5486400" cy="548640"/>
          </a:xfrm>
          <a:prstGeom prst="rect">
            <a:avLst/>
          </a:prstGeom>
          <a:noFill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anose="02040503050406030204" pitchFamily="34" charset="0"/>
                <a:ea typeface="Cambria" panose="02040503050406030204" pitchFamily="34" charset="-122"/>
                <a:cs typeface="Cambria" panose="02040503050406030204" pitchFamily="34" charset="-120"/>
              </a:rPr>
              <a:t>Thank You</a:t>
            </a:r>
            <a:endParaRPr lang="en-US" sz="2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2146</Words>
  <Application>WPS Presentation</Application>
  <PresentationFormat>On-screen Show (16:9)</PresentationFormat>
  <Paragraphs>103</Paragraphs>
  <Slides>5</Slides>
  <Notes>5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21" baseType="lpstr">
      <vt:lpstr>Arial</vt:lpstr>
      <vt:lpstr>SimSun</vt:lpstr>
      <vt:lpstr>Wingdings</vt:lpstr>
      <vt:lpstr>Calibri</vt:lpstr>
      <vt:lpstr>Calibri</vt:lpstr>
      <vt:lpstr>Calibri</vt:lpstr>
      <vt:lpstr>Cambria</vt:lpstr>
      <vt:lpstr>Cambria</vt:lpstr>
      <vt:lpstr>Cambria</vt:lpstr>
      <vt:lpstr>Arial</vt:lpstr>
      <vt:lpstr>Arial</vt:lpstr>
      <vt:lpstr>Calibri</vt:lpstr>
      <vt:lpstr>Arial</vt:lpstr>
      <vt:lpstr>Microsoft YaHei</vt:lpstr>
      <vt:lpstr>Arial Unicode MS</vt:lpstr>
      <vt:lpstr>Office Theme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PptxGenJS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creator>PptxGenJS</dc:creator>
  <dc:subject>PptxGenJS Presentation</dc:subject>
  <cp:lastModifiedBy>SUDHARSAN</cp:lastModifiedBy>
  <cp:revision>2</cp:revision>
  <dcterms:created xsi:type="dcterms:W3CDTF">2026-08-13T07:46:00Z</dcterms:created>
  <dcterms:modified xsi:type="dcterms:W3CDTF">2026-08-13T09:27:32Z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1033-12.1.0.28032</vt:lpwstr>
  </property>
  <property fmtid="{D5CDD505-2E9C-101B-9397-08002B2CF9AE}" pid="3" name="ICV">
    <vt:lpwstr>1A0E620330C941B9BC26568E5AF3A933_12</vt:lpwstr>
  </property>
</Properties>
</file>